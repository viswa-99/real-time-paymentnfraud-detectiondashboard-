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Volume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08:00</c:v>
                  </c:pt>
                  <c:pt idx="1">
                    <c:v>10:00</c:v>
                  </c:pt>
                  <c:pt idx="2">
                    <c:v>12:00</c:v>
                  </c:pt>
                  <c:pt idx="3">
                    <c:v>14:00</c:v>
                  </c:pt>
                  <c:pt idx="4">
                    <c:v>16:00</c:v>
                  </c:pt>
                  <c:pt idx="5">
                    <c:v>18:00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450</c:v>
                </c:pt>
                <c:pt idx="1">
                  <c:v>620</c:v>
                </c:pt>
                <c:pt idx="2">
                  <c:v>980</c:v>
                </c:pt>
                <c:pt idx="3">
                  <c:v>720</c:v>
                </c:pt>
                <c:pt idx="4">
                  <c:v>560</c:v>
                </c:pt>
                <c:pt idx="5">
                  <c:v>1380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 Strength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Transaction</c:v>
                  </c:pt>
                  <c:pt idx="1">
                    <c:v>Location</c:v>
                  </c:pt>
                  <c:pt idx="2">
                    <c:v>Velocity</c:v>
                  </c:pt>
                  <c:pt idx="3">
                    <c:v>Behavioral</c:v>
                  </c:pt>
                  <c:pt idx="4">
                    <c:v>Device</c:v>
                  </c:pt>
                  <c:pt idx="5">
                    <c:v>Time</c:v>
                  </c:pt>
                  <c:pt idx="6">
                    <c:v>Merchant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92</c:v>
                </c:pt>
                <c:pt idx="1">
                  <c:v>88</c:v>
                </c:pt>
                <c:pt idx="2">
                  <c:v>84</c:v>
                </c:pt>
                <c:pt idx="3">
                  <c:v>81</c:v>
                </c:pt>
                <c:pt idx="4">
                  <c:v>76</c:v>
                </c:pt>
                <c:pt idx="5">
                  <c:v>62</c:v>
                </c:pt>
                <c:pt idx="6">
                  <c:v>54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273080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931920"/>
            <a:ext cx="2926080" cy="2926080"/>
          </a:xfrm>
          <a:prstGeom prst="ellipse">
            <a:avLst/>
          </a:prstGeom>
          <a:solidFill>
            <a:srgbClr val="242C7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2B3480"/>
          </a:solidFill>
          <a:ln/>
        </p:spPr>
      </p:sp>
      <p:pic>
        <p:nvPicPr>
          <p:cNvPr id="6" name="Image 0" descr="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96240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RISK INTELLIGENCE SYSTEM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Payments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 Dashboard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41248" y="4343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transaction scoring, machine-learning risk models, and live fraud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tooling for high-velocity digital payments.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5349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94.2%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22960" y="5852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703320" y="5349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50 ms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703320" y="5852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0" y="5349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₹24.38L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583680" y="5852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LOSS PREVENTED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Stopping fraud in the milliseconds that matter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669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volumes are rising fast, and so is the fraud riding along with them. This project builds a real-time fraud detection platform that scores every transaction the instant it happens — combining rule-based checks, behavioral baselines, and machine learning to catch fraud patterns a human reviewer would miss until it's too late.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_targe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51" y="3606851"/>
            <a:ext cx="211226" cy="2112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930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transactions in real time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97280" y="381304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event is evaluated end-to-end in under 50ms.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on_gitbranc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51" y="4521251"/>
            <a:ext cx="211226" cy="2112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44074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two ML layers with explainability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097280" y="472744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Isolation Forest, and a Reason Engine work together on every transaction.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on_ey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5435651"/>
            <a:ext cx="211226" cy="21122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53218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analysts full visibility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097280" y="564184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 surfaces alerts, investigations, and model insight.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675120" y="155448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/>
        </p:spPr>
      </p:sp>
      <p:sp>
        <p:nvSpPr>
          <p:cNvPr id="18" name="Text 13"/>
          <p:cNvSpPr/>
          <p:nvPr/>
        </p:nvSpPr>
        <p:spPr>
          <a:xfrm>
            <a:off x="708660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SNAPSHOT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086600" y="2331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12,844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7086600" y="28620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monitored / day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086600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7086600" y="38221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 suspicious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7086600" y="4251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7086600" y="47823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fraud cases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7086600" y="5212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26" name="Text 21"/>
          <p:cNvSpPr/>
          <p:nvPr/>
        </p:nvSpPr>
        <p:spPr>
          <a:xfrm>
            <a:off x="7086600" y="57424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Auto-blocked in real time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PAYMENTS FRAUD DETECTION DASHBOARD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real-time inference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09160" y="137160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1E2761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0" y="13716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Simulator — 100 TPS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80760" y="1810512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09160" y="192024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1E2761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920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2359152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09160" y="246888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F4F6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4688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Service — 55 real-time 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907792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09160" y="301752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F4F6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0175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Isolation Forest (unsupervised)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3456432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09160" y="356616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F4F6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5661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XGBoost Classifier (supervised)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4005072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09160" y="411480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F4F6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41148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Engine — explainable output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4553712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09160" y="466344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E8A33D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46634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= probability × 100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5102352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479292" y="5212080"/>
            <a:ext cx="1600200" cy="438912"/>
          </a:xfrm>
          <a:prstGeom prst="roundRect">
            <a:avLst>
              <a:gd name="adj" fmla="val 14583"/>
            </a:avLst>
          </a:prstGeom>
          <a:solidFill>
            <a:srgbClr val="E4F5EC"/>
          </a:solidFill>
          <a:ln w="15875">
            <a:solidFill>
              <a:srgbClr val="2E9E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9292" y="521208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80660" y="5212080"/>
            <a:ext cx="1600200" cy="438912"/>
          </a:xfrm>
          <a:prstGeom prst="roundRect">
            <a:avLst>
              <a:gd name="adj" fmla="val 14583"/>
            </a:avLst>
          </a:prstGeom>
          <a:solidFill>
            <a:srgbClr val="FBF0DE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0660" y="521208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82028" y="5212080"/>
            <a:ext cx="1600200" cy="438912"/>
          </a:xfrm>
          <a:prstGeom prst="roundRect">
            <a:avLst>
              <a:gd name="adj" fmla="val 14583"/>
            </a:avLst>
          </a:prstGeom>
          <a:solidFill>
            <a:srgbClr val="FBE7E9"/>
          </a:solidFill>
          <a:ln w="15875">
            <a:solidFill>
              <a:srgbClr val="D645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2028" y="521208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ANOMALY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79392" y="5650992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5650992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82128" y="5650992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79392" y="5760720"/>
            <a:ext cx="36027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5760720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709160" y="5870448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1E2761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587044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→ React Dashboard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2980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LOCAL INTERFACES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829800" y="1719072"/>
            <a:ext cx="1874520" cy="438912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29800" y="171907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:5173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829800" y="2295144"/>
            <a:ext cx="1874520" cy="438912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29800" y="229514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Queue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829800" y="2871216"/>
            <a:ext cx="1874520" cy="438912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29800" y="287121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 :5001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PAYMENTS FRAUD DETECTION DASHBOARD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low-latency scoring at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_serv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20333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Python backend handling &gt;100 TPS with auto-generated OpenAPI docs and WebSocket broadcasting.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9202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_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437" y="203339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560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26280" y="29260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ensemble (Layer 1) — unsupervised structural anomaly scoring, no fraud labels required.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5320" y="19202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icon_cpu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477" y="203339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560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75320" y="29260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classifier (Layer 2) evaluating 56 features to output a calibrated fraud probability.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icon_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427367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5166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incoming transaction — field types, amount bounds, lat/lng ranges — and maps simulator payload aliases.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26280" y="41605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icon_barchar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437" y="427367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26280" y="5166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UI with Recharts analytics, Lucide icons, and a live WebSocket client.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5320" y="41605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5" descr="icon_zap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8477" y="4273677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 + aiohttp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75320" y="5166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100 TPS simulator engine replaying realistic UPI payment stream distributions.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PAYMENTS FRAUD DETECTION DASHBOARD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two-layer ensemble, not a single black box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E2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1351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Isolation Forest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IsolationForest — 300 estimators, max_samples = 8,192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Unsupervised: needs no fraud labels to run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how structurally ‘isolated’ a transaction is across 53 features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layer1_anomaly_score, fed forward as a feature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E2E6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_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444" y="21351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974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XGBoost Classifier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329184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XGBClassifier over 56 features (55 + Layer 1 score)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risk_probability via predict_proba (0.0–1.0)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 = risk_probability × 100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ANOMALY if ≥ 0.86 threshold, else NORMAL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E2E6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2011680"/>
            <a:ext cx="548640" cy="54864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6" name="Image 2" descr="icon_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484" y="21351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6974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Engine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1040" y="329184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real feature values against heuristic rules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top 3–4 human-readable explanations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‘New receiver detected’, ‘Amount 8.5× recent average’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probability into an explainable, actionable alert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PAYMENTS FRAUD DETECTION DASHBOARD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55+ behavioral features, computed in real time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payload field is scored on its own. Every transaction is compared live against the user's prior history in an in-memory, thread-safe state store — producing the features both ML layers consume.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860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on_barcha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3888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28600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&amp; Amount Baselines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8803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log_amount, hour, day_of_week, is_weekend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user_avg_amount / user_std_amount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amount_zscore vs. historical behavior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recent_amount_ratio vs. last 5 transactions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63640" y="20574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22860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icon_zap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110" y="238887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28600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Windows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537960" y="28803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transactions_last_5min / 15min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transactions_last_1hour / 24hour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amount_last_1hour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42976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45262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icon_targe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462915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45262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Novelty &amp; Relationship Age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2960" y="512064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is_new_receiver, receiver_relationship_age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is_new_device, recent_device_changes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is_new_merchant, merchant_available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63640" y="42976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92240" y="45262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3" descr="icon_mappin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10" y="462915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45262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Drift &amp; Travel Speed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537960" y="512064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distance_from_usual_location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distance_from_previous_transaction (haversine)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log_travel_speed — flags impossible travel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PAYMENTS FRAUD DETECTION DASHBOARD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score decides what happens next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2's risk_probability is scaled to a 0–100 risk_score. That single number routes the transaction to one of three outcomes — automatically, in real time, based on the 0.86 decision threshold.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673352" cy="320040"/>
          </a:xfrm>
          <a:prstGeom prst="rect">
            <a:avLst/>
          </a:prstGeom>
          <a:solidFill>
            <a:srgbClr val="3FB27F"/>
          </a:solidFill>
          <a:ln/>
        </p:spPr>
      </p:sp>
      <p:sp>
        <p:nvSpPr>
          <p:cNvPr id="6" name="Shape 4"/>
          <p:cNvSpPr/>
          <p:nvPr/>
        </p:nvSpPr>
        <p:spPr>
          <a:xfrm>
            <a:off x="2221992" y="2514600"/>
            <a:ext cx="3123590" cy="320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5345582" y="2514600"/>
            <a:ext cx="780898" cy="32004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907792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&lt; 0.30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039112" y="2907792"/>
            <a:ext cx="34893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0.30–0.86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162702" y="2907792"/>
            <a:ext cx="1146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≥ 0.86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783080" cy="1920240"/>
          </a:xfrm>
          <a:prstGeom prst="roundRect">
            <a:avLst>
              <a:gd name="adj" fmla="val 5128"/>
            </a:avLst>
          </a:prstGeom>
          <a:solidFill>
            <a:srgbClr val="242C70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1580" y="3474720"/>
            <a:ext cx="457200" cy="457200"/>
          </a:xfrm>
          <a:prstGeom prst="ellipse">
            <a:avLst/>
          </a:prstGeom>
          <a:solidFill>
            <a:srgbClr val="2E9E6B"/>
          </a:solidFill>
          <a:ln/>
        </p:spPr>
      </p:sp>
      <p:pic>
        <p:nvPicPr>
          <p:cNvPr id="13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356616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4069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438912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risk_probability below 0.30 — transaction approved instantly, no friction added.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532888" y="3246120"/>
            <a:ext cx="1783080" cy="1920240"/>
          </a:xfrm>
          <a:prstGeom prst="roundRect">
            <a:avLst>
              <a:gd name="adj" fmla="val 5128"/>
            </a:avLst>
          </a:prstGeom>
          <a:solidFill>
            <a:srgbClr val="242C70"/>
          </a:solidFill>
          <a:ln/>
        </p:spPr>
      </p:sp>
      <p:sp>
        <p:nvSpPr>
          <p:cNvPr id="17" name="Shape 14"/>
          <p:cNvSpPr/>
          <p:nvPr/>
        </p:nvSpPr>
        <p:spPr>
          <a:xfrm>
            <a:off x="3195828" y="34747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1" descr="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68" y="356616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32888" y="4069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670048" y="438912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– 0.86 range — flagged for the analyst review queue.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517136" y="3246120"/>
            <a:ext cx="1783080" cy="1920240"/>
          </a:xfrm>
          <a:prstGeom prst="roundRect">
            <a:avLst>
              <a:gd name="adj" fmla="val 5128"/>
            </a:avLst>
          </a:prstGeom>
          <a:solidFill>
            <a:srgbClr val="242C70"/>
          </a:solidFill>
          <a:ln/>
        </p:spPr>
      </p:sp>
      <p:sp>
        <p:nvSpPr>
          <p:cNvPr id="22" name="Shape 18"/>
          <p:cNvSpPr/>
          <p:nvPr/>
        </p:nvSpPr>
        <p:spPr>
          <a:xfrm>
            <a:off x="5180076" y="347472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23" name="Image 2" descr="icon_x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356616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517136" y="4069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654296" y="438912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0.86 threshold — decision = ANOMALY, payment auto-blocked in real time.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720840" y="1417320"/>
            <a:ext cx="48920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/>
          <p:nvPr/>
        </p:nvSpPr>
        <p:spPr>
          <a:xfrm>
            <a:off x="7086600" y="1691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7086600" y="19659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50 ms</a:t>
            </a:r>
            <a:endParaRPr lang="en-US" sz="4200" dirty="0"/>
          </a:p>
        </p:txBody>
      </p:sp>
      <p:sp>
        <p:nvSpPr>
          <p:cNvPr id="29" name="Text 24"/>
          <p:cNvSpPr/>
          <p:nvPr/>
        </p:nvSpPr>
        <p:spPr>
          <a:xfrm>
            <a:off x="7086600" y="26974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feature computation + two-layer scoring, sustained at 100 transactions per second.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7086600" y="3520440"/>
            <a:ext cx="4160520" cy="0"/>
          </a:xfrm>
          <a:prstGeom prst="line">
            <a:avLst/>
          </a:prstGeom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086600" y="3657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7086600" y="397764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28"/>
          <p:cNvSpPr/>
          <p:nvPr/>
        </p:nvSpPr>
        <p:spPr>
          <a:xfrm>
            <a:off x="7086600" y="3977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7452360" y="39593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Received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7086600" y="434340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6" name="Text 31"/>
          <p:cNvSpPr/>
          <p:nvPr/>
        </p:nvSpPr>
        <p:spPr>
          <a:xfrm>
            <a:off x="7086600" y="4343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7452360" y="43251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Service (55 features)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7086600" y="470916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9" name="Text 34"/>
          <p:cNvSpPr/>
          <p:nvPr/>
        </p:nvSpPr>
        <p:spPr>
          <a:xfrm>
            <a:off x="7086600" y="4709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7452360" y="4690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Isolation Forest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7086600" y="507492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2" name="Text 37"/>
          <p:cNvSpPr/>
          <p:nvPr/>
        </p:nvSpPr>
        <p:spPr>
          <a:xfrm>
            <a:off x="7086600" y="50749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7452360" y="50566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XGBoost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7086600" y="544068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5" name="Text 40"/>
          <p:cNvSpPr/>
          <p:nvPr/>
        </p:nvSpPr>
        <p:spPr>
          <a:xfrm>
            <a:off x="7086600" y="5440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7452360" y="54223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Engine</a:t>
            </a:r>
            <a:endParaRPr lang="en-US" sz="1150" dirty="0"/>
          </a:p>
        </p:txBody>
      </p:sp>
      <p:sp>
        <p:nvSpPr>
          <p:cNvPr id="47" name="Shape 42"/>
          <p:cNvSpPr/>
          <p:nvPr/>
        </p:nvSpPr>
        <p:spPr>
          <a:xfrm>
            <a:off x="7086600" y="580644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8" name="Text 43"/>
          <p:cNvSpPr/>
          <p:nvPr/>
        </p:nvSpPr>
        <p:spPr>
          <a:xfrm>
            <a:off x="7086600" y="5806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9" name="Text 44"/>
          <p:cNvSpPr/>
          <p:nvPr/>
        </p:nvSpPr>
        <p:spPr>
          <a:xfrm>
            <a:off x="7452360" y="57881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Broadcast</a:t>
            </a:r>
            <a:endParaRPr lang="en-US" sz="1150" dirty="0"/>
          </a:p>
        </p:txBody>
      </p:sp>
      <p:sp>
        <p:nvSpPr>
          <p:cNvPr id="50" name="Text 4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PAYMENTS FRAUD DETECTION DASHBOARD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 number — a reason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Engine evaluates the same feature values the models scored, then translates the strongest ones into plain-language explanations — so analysts see why a transaction was flagged, not just its score.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242C70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30428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2394814"/>
            <a:ext cx="221285" cy="2212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receiver detected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" y="2816352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D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is_new_receiver ==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9808" y="3090672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receiver has not previously appeared in the user's transaction history.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97680" y="21031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242C70"/>
          </a:solidFill>
          <a:ln/>
        </p:spPr>
      </p:sp>
      <p:sp>
        <p:nvSpPr>
          <p:cNvPr id="12" name="Shape 9"/>
          <p:cNvSpPr/>
          <p:nvPr/>
        </p:nvSpPr>
        <p:spPr>
          <a:xfrm>
            <a:off x="4498848" y="230428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icon_bar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374" y="2394814"/>
            <a:ext cx="221285" cy="22128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10912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above recent behavior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498848" y="2816352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D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recent_amount_ratio ≥ 3.0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498848" y="3090672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 is 8.5× the user's recent average.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046720" y="21031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242C70"/>
          </a:solidFill>
          <a:ln/>
        </p:spPr>
      </p:sp>
      <p:sp>
        <p:nvSpPr>
          <p:cNvPr id="18" name="Shape 14"/>
          <p:cNvSpPr/>
          <p:nvPr/>
        </p:nvSpPr>
        <p:spPr>
          <a:xfrm>
            <a:off x="8247888" y="230428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2" descr="icon_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8414" y="2394814"/>
            <a:ext cx="221285" cy="22128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59952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device detected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47888" y="2816352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D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is_new_device == 1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247888" y="3090672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is associated with a device not previously used by this user.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48640" y="3959352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242C70"/>
          </a:solidFill>
          <a:ln/>
        </p:spPr>
      </p:sp>
      <p:sp>
        <p:nvSpPr>
          <p:cNvPr id="24" name="Shape 19"/>
          <p:cNvSpPr/>
          <p:nvPr/>
        </p:nvSpPr>
        <p:spPr>
          <a:xfrm>
            <a:off x="749808" y="416052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3" descr="icon_mapp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34" y="4251046"/>
            <a:ext cx="221285" cy="22128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61872" y="41422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transaction location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49808" y="4672584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D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distance_from_usual_location ≥ 200 km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749808" y="4946904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location is significantly far from the user's usual area.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297680" y="3959352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242C70"/>
          </a:solidFill>
          <a:ln/>
        </p:spPr>
      </p:sp>
      <p:sp>
        <p:nvSpPr>
          <p:cNvPr id="30" name="Shape 24"/>
          <p:cNvSpPr/>
          <p:nvPr/>
        </p:nvSpPr>
        <p:spPr>
          <a:xfrm>
            <a:off x="4498848" y="416052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4" descr="icon_z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9374" y="4251046"/>
            <a:ext cx="221285" cy="22128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10912" y="41422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transaction velocity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498848" y="4672584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D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transactions_last_1hour ≥ 5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4498848" y="4946904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transactions occurred in the previous hour.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8046720" y="3959352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242C70"/>
          </a:solidFill>
          <a:ln/>
        </p:spPr>
      </p:sp>
      <p:sp>
        <p:nvSpPr>
          <p:cNvPr id="36" name="Shape 29"/>
          <p:cNvSpPr/>
          <p:nvPr/>
        </p:nvSpPr>
        <p:spPr>
          <a:xfrm>
            <a:off x="8247888" y="416052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7" name="Image 5" descr="icon_ale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8414" y="4251046"/>
            <a:ext cx="221285" cy="22128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759952" y="41422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amount deviation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8247888" y="4672584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D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amount_zscore ≥ 3.0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8247888" y="4946904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 strongly deviates from the user's historical behavior.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PAYMENTS FRAUD DETECTION DASHBOARD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view of payment risk across the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_activit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02311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68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12,844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monitored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2278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+8.4% from yesterday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83280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11880" y="1920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icon_aler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202311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468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2700" dirty="0"/>
          </a:p>
        </p:txBody>
      </p:sp>
      <p:sp>
        <p:nvSpPr>
          <p:cNvPr id="14" name="Text 10"/>
          <p:cNvSpPr/>
          <p:nvPr/>
        </p:nvSpPr>
        <p:spPr>
          <a:xfrm>
            <a:off x="3611880" y="29718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transactions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11880" y="32278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+14% from last week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17920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icon_x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90" y="202311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2468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2700" dirty="0"/>
          </a:p>
        </p:txBody>
      </p:sp>
      <p:sp>
        <p:nvSpPr>
          <p:cNvPr id="20" name="Text 15"/>
          <p:cNvSpPr/>
          <p:nvPr/>
        </p:nvSpPr>
        <p:spPr>
          <a:xfrm>
            <a:off x="6446520" y="29718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detected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46520" y="32278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blocked automatically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9052560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81160" y="1920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3" descr="icon_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4030" y="2023110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1160" y="2468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₹24.38L</a:t>
            </a:r>
            <a:endParaRPr lang="en-US" sz="2700" dirty="0"/>
          </a:p>
        </p:txBody>
      </p:sp>
      <p:sp>
        <p:nvSpPr>
          <p:cNvPr id="26" name="Text 20"/>
          <p:cNvSpPr/>
          <p:nvPr/>
        </p:nvSpPr>
        <p:spPr>
          <a:xfrm>
            <a:off x="9281160" y="29718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loss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281160" y="32278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fraudulent value prevented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54864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Activity — avg. ticket value vs. volume (by hour)</a:t>
            </a:r>
            <a:endParaRPr lang="en-US" sz="12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48640" y="4114800"/>
          <a:ext cx="6492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Shape 23"/>
          <p:cNvSpPr/>
          <p:nvPr/>
        </p:nvSpPr>
        <p:spPr>
          <a:xfrm>
            <a:off x="7360920" y="3794760"/>
            <a:ext cx="4251960" cy="26060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31" name="Text 24"/>
          <p:cNvSpPr/>
          <p:nvPr/>
        </p:nvSpPr>
        <p:spPr>
          <a:xfrm>
            <a:off x="7635240" y="4023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SNAPSHOT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7635240" y="4297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92.4%</a:t>
            </a:r>
            <a:endParaRPr lang="en-US" sz="3400" dirty="0"/>
          </a:p>
        </p:txBody>
      </p:sp>
      <p:sp>
        <p:nvSpPr>
          <p:cNvPr id="33" name="Text 26"/>
          <p:cNvSpPr/>
          <p:nvPr/>
        </p:nvSpPr>
        <p:spPr>
          <a:xfrm>
            <a:off x="7635240" y="4892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· False positive rate 4.3%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7635240" y="5349240"/>
            <a:ext cx="3703320" cy="0"/>
          </a:xfrm>
          <a:prstGeom prst="line">
            <a:avLst/>
          </a:prstGeom>
          <a:noFill/>
          <a:ln w="12700">
            <a:solidFill>
              <a:srgbClr val="3A439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635240" y="548640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 alert: average ticket ₹3,900 vs. baseline ₹2,025 — suspicious volume rose to 27 events.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PAYMENTS FRAUD DETECTION DASHBOARD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SIGNALS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risk score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signal contributes independently to the aggregated fraud probability. The strongest signals on a flagged transaction point investigators straight to the cause.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 Anomaly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677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11.4× the user's average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80560" y="2066544"/>
            <a:ext cx="6309360" cy="201168"/>
          </a:xfrm>
          <a:prstGeom prst="roundRect">
            <a:avLst>
              <a:gd name="adj" fmla="val 22727"/>
            </a:avLst>
          </a:prstGeom>
          <a:solidFill>
            <a:srgbClr val="E2E6F0"/>
          </a:solidFill>
          <a:ln/>
        </p:spPr>
      </p:sp>
      <p:sp>
        <p:nvSpPr>
          <p:cNvPr id="8" name="Shape 6"/>
          <p:cNvSpPr/>
          <p:nvPr/>
        </p:nvSpPr>
        <p:spPr>
          <a:xfrm>
            <a:off x="4480560" y="2066544"/>
            <a:ext cx="5804611" cy="201168"/>
          </a:xfrm>
          <a:prstGeom prst="roundRect">
            <a:avLst>
              <a:gd name="adj" fmla="val 22727"/>
            </a:avLst>
          </a:prstGeom>
          <a:solidFill>
            <a:srgbClr val="D64550"/>
          </a:solidFill>
          <a:ln/>
        </p:spPr>
      </p:sp>
      <p:sp>
        <p:nvSpPr>
          <p:cNvPr id="9" name="Text 7"/>
          <p:cNvSpPr/>
          <p:nvPr/>
        </p:nvSpPr>
        <p:spPr>
          <a:xfrm>
            <a:off x="10899648" y="1993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5786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Anomaly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locations detected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80560" y="2633472"/>
            <a:ext cx="6309360" cy="201168"/>
          </a:xfrm>
          <a:prstGeom prst="roundRect">
            <a:avLst>
              <a:gd name="adj" fmla="val 22727"/>
            </a:avLst>
          </a:prstGeom>
          <a:solidFill>
            <a:srgbClr val="E2E6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2633472"/>
            <a:ext cx="5552237" cy="201168"/>
          </a:xfrm>
          <a:prstGeom prst="roundRect">
            <a:avLst>
              <a:gd name="adj" fmla="val 22727"/>
            </a:avLst>
          </a:prstGeom>
          <a:solidFill>
            <a:srgbClr val="D64550"/>
          </a:solidFill>
          <a:ln/>
        </p:spPr>
      </p:sp>
      <p:sp>
        <p:nvSpPr>
          <p:cNvPr id="14" name="Text 12"/>
          <p:cNvSpPr/>
          <p:nvPr/>
        </p:nvSpPr>
        <p:spPr>
          <a:xfrm>
            <a:off x="10899648" y="2560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14553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Velocity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40156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transactions in 2 minutes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80560" y="3200400"/>
            <a:ext cx="6309360" cy="201168"/>
          </a:xfrm>
          <a:prstGeom prst="roundRect">
            <a:avLst>
              <a:gd name="adj" fmla="val 22727"/>
            </a:avLst>
          </a:prstGeom>
          <a:solidFill>
            <a:srgbClr val="E2E6F0"/>
          </a:solidFill>
          <a:ln/>
        </p:spPr>
      </p:sp>
      <p:sp>
        <p:nvSpPr>
          <p:cNvPr id="18" name="Shape 16"/>
          <p:cNvSpPr/>
          <p:nvPr/>
        </p:nvSpPr>
        <p:spPr>
          <a:xfrm>
            <a:off x="4480560" y="3200400"/>
            <a:ext cx="5299862" cy="201168"/>
          </a:xfrm>
          <a:prstGeom prst="roundRect">
            <a:avLst>
              <a:gd name="adj" fmla="val 22727"/>
            </a:avLst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10899648" y="31272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71246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Deviation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96849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anomalous vs. baseline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80560" y="3767328"/>
            <a:ext cx="6309360" cy="201168"/>
          </a:xfrm>
          <a:prstGeom prst="roundRect">
            <a:avLst>
              <a:gd name="adj" fmla="val 22727"/>
            </a:avLst>
          </a:prstGeom>
          <a:solidFill>
            <a:srgbClr val="E2E6F0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3767328"/>
            <a:ext cx="5110582" cy="201168"/>
          </a:xfrm>
          <a:prstGeom prst="roundRect">
            <a:avLst>
              <a:gd name="adj" fmla="val 22727"/>
            </a:avLst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10899648" y="36941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27939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Risk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53542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unrecognized device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80560" y="4334256"/>
            <a:ext cx="6309360" cy="201168"/>
          </a:xfrm>
          <a:prstGeom prst="roundRect">
            <a:avLst>
              <a:gd name="adj" fmla="val 22727"/>
            </a:avLst>
          </a:prstGeom>
          <a:solidFill>
            <a:srgbClr val="E2E6F0"/>
          </a:solidFill>
          <a:ln/>
        </p:spPr>
      </p:sp>
      <p:sp>
        <p:nvSpPr>
          <p:cNvPr id="28" name="Shape 26"/>
          <p:cNvSpPr/>
          <p:nvPr/>
        </p:nvSpPr>
        <p:spPr>
          <a:xfrm>
            <a:off x="4480560" y="4334256"/>
            <a:ext cx="4795114" cy="201168"/>
          </a:xfrm>
          <a:prstGeom prst="roundRect">
            <a:avLst>
              <a:gd name="adj" fmla="val 22727"/>
            </a:avLst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10899648" y="42611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48463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Anomaly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510235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normal transaction window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80560" y="4901184"/>
            <a:ext cx="6309360" cy="201168"/>
          </a:xfrm>
          <a:prstGeom prst="roundRect">
            <a:avLst>
              <a:gd name="adj" fmla="val 22727"/>
            </a:avLst>
          </a:prstGeom>
          <a:solidFill>
            <a:srgbClr val="E2E6F0"/>
          </a:solidFill>
          <a:ln/>
        </p:spPr>
      </p:sp>
      <p:sp>
        <p:nvSpPr>
          <p:cNvPr id="33" name="Shape 31"/>
          <p:cNvSpPr/>
          <p:nvPr/>
        </p:nvSpPr>
        <p:spPr>
          <a:xfrm>
            <a:off x="4480560" y="4901184"/>
            <a:ext cx="3911803" cy="201168"/>
          </a:xfrm>
          <a:prstGeom prst="roundRect">
            <a:avLst>
              <a:gd name="adj" fmla="val 22727"/>
            </a:avLst>
          </a:prstGeom>
          <a:solidFill>
            <a:srgbClr val="5B8DEF"/>
          </a:solidFill>
          <a:ln/>
        </p:spPr>
      </p:sp>
      <p:sp>
        <p:nvSpPr>
          <p:cNvPr id="34" name="Text 32"/>
          <p:cNvSpPr/>
          <p:nvPr/>
        </p:nvSpPr>
        <p:spPr>
          <a:xfrm>
            <a:off x="10899648" y="4828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541324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Risk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566928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merchant risk profile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5468112"/>
            <a:ext cx="6309360" cy="201168"/>
          </a:xfrm>
          <a:prstGeom prst="roundRect">
            <a:avLst>
              <a:gd name="adj" fmla="val 22727"/>
            </a:avLst>
          </a:prstGeom>
          <a:solidFill>
            <a:srgbClr val="E2E6F0"/>
          </a:solidFill>
          <a:ln/>
        </p:spPr>
      </p:sp>
      <p:sp>
        <p:nvSpPr>
          <p:cNvPr id="38" name="Shape 36"/>
          <p:cNvSpPr/>
          <p:nvPr/>
        </p:nvSpPr>
        <p:spPr>
          <a:xfrm>
            <a:off x="4480560" y="5468112"/>
            <a:ext cx="3407054" cy="201168"/>
          </a:xfrm>
          <a:prstGeom prst="roundRect">
            <a:avLst>
              <a:gd name="adj" fmla="val 22727"/>
            </a:avLst>
          </a:prstGeom>
          <a:solidFill>
            <a:srgbClr val="5B8DEF"/>
          </a:solidFill>
          <a:ln/>
        </p:spPr>
      </p:sp>
      <p:sp>
        <p:nvSpPr>
          <p:cNvPr id="39" name="Text 37"/>
          <p:cNvSpPr/>
          <p:nvPr/>
        </p:nvSpPr>
        <p:spPr>
          <a:xfrm>
            <a:off x="10899648" y="5394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PAYMENTS FRAUD DETECTION DASHBOARD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Geo-velocity: catching impossible travel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log_travel_speed feature checks every pair of consecutive transactions from the same user — a haversine distance calculation compared against elapsed time to flag physically impossible travel.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120640" cy="2331720"/>
          </a:xfrm>
          <a:prstGeom prst="roundRect">
            <a:avLst>
              <a:gd name="adj" fmla="val 3922"/>
            </a:avLst>
          </a:prstGeom>
          <a:solidFill>
            <a:srgbClr val="242C7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926080"/>
            <a:ext cx="201168" cy="20116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862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06240" y="4160520"/>
            <a:ext cx="237744" cy="23774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44348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06424" y="3026664"/>
            <a:ext cx="3200400" cy="1234440"/>
          </a:xfrm>
          <a:prstGeom prst="line">
            <a:avLst/>
          </a:prstGeom>
          <a:noFill/>
          <a:ln w="22225">
            <a:solidFill>
              <a:srgbClr val="D64550"/>
            </a:solidFill>
            <a:prstDash val="dash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219456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B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~510 km / 7 min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242316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6517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Location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0" y="26517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30540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Location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0" y="305409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34564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0" y="34564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~510 km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8587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Difference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0" y="38587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minutes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42611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Travel Speed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0" y="42611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~4,370 km/h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3B1F2A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1480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TRAVEL DETECTED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546811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unachievable movement between transactions indicates possible credential or account compromise — escalated automatically to CRITICAL severity.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PAYMENTS FRAUD DETECTION DASHBOARD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auto-blocked transaction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448056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6" name="Image 0" descr="icon_x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9751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PAYMENT DETECTED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Auto-blocked by the real-time decision engine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31089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68680" y="334670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TXN-84922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68680" y="38221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68680" y="40599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8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 / 100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68680" y="453542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68680" y="477316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Chennai (new)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68680" y="52486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68680" y="54864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₹42,000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526280" y="1600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this transaction flagged?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526280" y="2057400"/>
            <a:ext cx="7132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 is 11.4× higher than the user's average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occurred from a new / unrecognized device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transaction was detected in Hyderabad; current in Chennai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change occurred within 7 minutes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velocity exceeded the user's normal behavior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occurred outside the user's normal transaction period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26280" y="4709160"/>
            <a:ext cx="713232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00600" y="48920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Assessment: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probability of account compromise or credential misuse. Transaction auto-blocked pending investigation.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PAYMENTS FRAUD DETECTION DASHBOARD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scoring stack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      </a:t>
            </a:r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Isolation Forest      </a:t>
            </a:r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threshold: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48256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30552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50008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94.2%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70632" y="1965960"/>
            <a:ext cx="2048256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7792" y="2130552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2907792" y="2350008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91.8%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907792" y="28803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92624" y="1965960"/>
            <a:ext cx="2048256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9784" y="2130552"/>
            <a:ext cx="146304" cy="146304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5" name="Text 13"/>
          <p:cNvSpPr/>
          <p:nvPr/>
        </p:nvSpPr>
        <p:spPr>
          <a:xfrm>
            <a:off x="5129784" y="2350008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89.6%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129784" y="28803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14616" y="1965960"/>
            <a:ext cx="2048256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51776" y="2130552"/>
            <a:ext cx="146304" cy="146304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9" name="Text 17"/>
          <p:cNvSpPr/>
          <p:nvPr/>
        </p:nvSpPr>
        <p:spPr>
          <a:xfrm>
            <a:off x="7351776" y="2350008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90.7%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7351776" y="28803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436608" y="1965960"/>
            <a:ext cx="2048256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73768" y="213055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9573768" y="2350008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4.3%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9573768" y="28803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signal strength across the model</a:t>
            </a:r>
            <a:endParaRPr lang="en-US" sz="12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548640" y="4023360"/>
          <a:ext cx="110642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PAYMENTS FRAUD DETECTION DASHBOARD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2730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payment events to confident,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fraud decisions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proves that a two-layer ensemble — unsupervised anomaly detection feeding a supervised classifier — can score UPI transactions in under 50ms at 100 TPS, and still hand analysts a plain-language reason instead of a black-box score.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transaction store to replace the in-memory history state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Adaptive, per-user risk thresholds instead of one global cutoff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network analysis for linked-account fraud rings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model retraining from analyst feedback on alerts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173736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242C70"/>
          </a:solidFill>
          <a:ln/>
        </p:spPr>
      </p:sp>
      <p:sp>
        <p:nvSpPr>
          <p:cNvPr id="9" name="Shape 7"/>
          <p:cNvSpPr/>
          <p:nvPr/>
        </p:nvSpPr>
        <p:spPr>
          <a:xfrm>
            <a:off x="7086600" y="2103120"/>
            <a:ext cx="640080" cy="640080"/>
          </a:xfrm>
          <a:prstGeom prst="ellipse">
            <a:avLst/>
          </a:prstGeom>
          <a:solidFill>
            <a:srgbClr val="2B3480"/>
          </a:solidFill>
          <a:ln/>
        </p:spPr>
      </p:sp>
      <p:pic>
        <p:nvPicPr>
          <p:cNvPr id="10" name="Image 0" descr="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0618" y="2247138"/>
            <a:ext cx="352044" cy="3520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63840" y="22128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TRUST AT SPEED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8660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94.2%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086600" y="3474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086600" y="3794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50 ms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086600" y="4251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86600" y="4572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₹24.38L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086600" y="5029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value prevented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086600" y="5349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TPS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086600" y="5806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throughput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PAYMENTS FRAUD DETECTION DASHBOARD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2026-08-21T10:59:07Z</dcterms:created>
  <dcterms:modified xsi:type="dcterms:W3CDTF">2026-08-21T10:59:07Z</dcterms:modified>
</cp:coreProperties>
</file>